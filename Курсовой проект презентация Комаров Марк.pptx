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0DBC2-EFC2-4C37-8EF6-BE6B801CC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1066800"/>
            <a:ext cx="11119099" cy="2154572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solidFill>
                  <a:srgbClr val="FFFFFF"/>
                </a:solidFill>
                <a:latin typeface="Calibri"/>
              </a:rPr>
              <a:t>Частное учреждение профессионального образования</a:t>
            </a:r>
            <a:br>
              <a:rPr lang="ru-RU" sz="3100" b="1" dirty="0">
                <a:solidFill>
                  <a:srgbClr val="FFFFFF"/>
                </a:solidFill>
                <a:latin typeface="Calibri"/>
              </a:rPr>
            </a:br>
            <a:r>
              <a:rPr lang="ru-RU" sz="3100" b="1" dirty="0">
                <a:solidFill>
                  <a:srgbClr val="FFFFFF"/>
                </a:solidFill>
                <a:latin typeface="Calibri"/>
              </a:rPr>
              <a:t>«Высшая школа предпринимательства» (ЧУПО «ВШП»)</a:t>
            </a:r>
            <a:br>
              <a:rPr lang="ru-RU" sz="3100" b="1" dirty="0">
                <a:solidFill>
                  <a:srgbClr val="FFFFFF"/>
                </a:solidFill>
                <a:latin typeface="Calibri"/>
              </a:rPr>
            </a:br>
            <a:r>
              <a:rPr lang="ru-RU" sz="3100" dirty="0">
                <a:solidFill>
                  <a:srgbClr val="CCE0F5"/>
                </a:solidFill>
                <a:latin typeface="Calibri"/>
              </a:rPr>
              <a:t>КУРСОВОЙ ПРОЕКТ</a:t>
            </a:r>
            <a:br>
              <a:rPr lang="ru-RU" sz="4000" dirty="0">
                <a:solidFill>
                  <a:srgbClr val="CCE0F5"/>
                </a:solidFill>
                <a:latin typeface="Calibri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E8BE78-7F20-4F2B-A1F1-B209C2658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7176272" cy="6777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базы данных с учетом клиентов такси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B43E77-3FEE-42DB-8D74-77B4A58C3466}"/>
              </a:ext>
            </a:extLst>
          </p:cNvPr>
          <p:cNvSpPr/>
          <p:nvPr/>
        </p:nvSpPr>
        <p:spPr>
          <a:xfrm>
            <a:off x="813732" y="4597167"/>
            <a:ext cx="6107185" cy="546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Комаров Марк</a:t>
            </a:r>
          </a:p>
        </p:txBody>
      </p:sp>
    </p:spTree>
    <p:extLst>
      <p:ext uri="{BB962C8B-B14F-4D97-AF65-F5344CB8AC3E}">
        <p14:creationId xmlns:p14="http://schemas.microsoft.com/office/powerpoint/2010/main" val="422640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E4687-C2EE-496D-8B4E-98952F18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6562"/>
            <a:ext cx="8534400" cy="5507838"/>
          </a:xfrm>
        </p:spPr>
        <p:txBody>
          <a:bodyPr>
            <a:normAutofit/>
          </a:bodyPr>
          <a:lstStyle/>
          <a:p>
            <a:r>
              <a:rPr lang="en-US" sz="2400" b="1" dirty="0"/>
              <a:t>A</a:t>
            </a:r>
            <a:r>
              <a:rPr lang="ru-RU" sz="2400" b="1" dirty="0" err="1"/>
              <a:t>ктуальность</a:t>
            </a:r>
            <a:r>
              <a:rPr lang="ru-RU" sz="2400" b="1" dirty="0"/>
              <a:t> темы</a:t>
            </a:r>
            <a:br>
              <a:rPr lang="ru-RU" sz="2400" b="1" dirty="0"/>
            </a:br>
            <a:r>
              <a:rPr lang="ru-RU" sz="2400" b="1" dirty="0"/>
              <a:t>Почему это важно?</a:t>
            </a:r>
            <a:br>
              <a:rPr lang="ru-RU" sz="2400" dirty="0"/>
            </a:br>
            <a:r>
              <a:rPr lang="ru-RU" sz="2400" dirty="0"/>
              <a:t>✓ Службы такси обрабатывают большие объемы данных ежедневно</a:t>
            </a:r>
            <a:br>
              <a:rPr lang="ru-RU" sz="2400" dirty="0"/>
            </a:br>
            <a:r>
              <a:rPr lang="ru-RU" sz="2400" dirty="0"/>
              <a:t>✓ Необходимость автоматизации учета клиентов, заказов и платежей</a:t>
            </a:r>
            <a:br>
              <a:rPr lang="ru-RU" sz="2400" dirty="0"/>
            </a:br>
            <a:r>
              <a:rPr lang="ru-RU" sz="2400" dirty="0"/>
              <a:t>✓ Снижение ошибок и повышение скорости обработки заказов</a:t>
            </a:r>
            <a:br>
              <a:rPr lang="ru-RU" sz="2400" dirty="0"/>
            </a:br>
            <a:r>
              <a:rPr lang="ru-RU" sz="2400" dirty="0"/>
              <a:t>✓ </a:t>
            </a:r>
            <a:r>
              <a:rPr lang="ru-RU" sz="2400" dirty="0" err="1"/>
              <a:t>MySQL</a:t>
            </a:r>
            <a:r>
              <a:rPr lang="ru-RU" sz="2400" dirty="0"/>
              <a:t> — надежная и бесплатная СУБД для малого бизнеса</a:t>
            </a:r>
            <a:br>
              <a:rPr lang="ru-RU" sz="2400" dirty="0"/>
            </a:br>
            <a:r>
              <a:rPr lang="ru-RU" sz="2400" b="1" dirty="0"/>
              <a:t>Цель проекта:</a:t>
            </a:r>
            <a:br>
              <a:rPr lang="ru-RU" sz="2400" dirty="0"/>
            </a:br>
            <a:r>
              <a:rPr lang="ru-RU" sz="2400" dirty="0"/>
              <a:t>Спроектировать и реализовать систему учета клиентов службы такси на базе </a:t>
            </a:r>
            <a:r>
              <a:rPr lang="ru-RU" sz="2400" dirty="0" err="1"/>
              <a:t>MySQL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4140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2396F-2B23-457A-B447-624C6632C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46620"/>
            <a:ext cx="8534400" cy="5247779"/>
          </a:xfrm>
        </p:spPr>
        <p:txBody>
          <a:bodyPr>
            <a:normAutofit/>
          </a:bodyPr>
          <a:lstStyle/>
          <a:p>
            <a:r>
              <a:rPr lang="ru-RU" sz="2700" b="1" dirty="0"/>
              <a:t>Задачи проекта</a:t>
            </a:r>
            <a:br>
              <a:rPr lang="ru-RU" sz="2700" b="1" dirty="0"/>
            </a:br>
            <a:r>
              <a:rPr lang="ru-RU" sz="2700" b="1" dirty="0"/>
              <a:t>Что нужно было сделать:</a:t>
            </a:r>
            <a:br>
              <a:rPr lang="ru-RU" sz="2700" dirty="0"/>
            </a:br>
            <a:r>
              <a:rPr lang="ru-RU" sz="2700" dirty="0"/>
              <a:t>Проанализировать предметную область</a:t>
            </a:r>
            <a:br>
              <a:rPr lang="ru-RU" sz="2700" dirty="0"/>
            </a:br>
            <a:r>
              <a:rPr lang="ru-RU" sz="2700" dirty="0"/>
              <a:t>Спроектировать ER-модель базы данных</a:t>
            </a:r>
            <a:br>
              <a:rPr lang="ru-RU" sz="2700" dirty="0"/>
            </a:br>
            <a:r>
              <a:rPr lang="ru-RU" sz="2700" dirty="0"/>
              <a:t>Реализовать БД в </a:t>
            </a:r>
            <a:r>
              <a:rPr lang="ru-RU" sz="2700" dirty="0" err="1"/>
              <a:t>MySQL</a:t>
            </a:r>
            <a:r>
              <a:rPr lang="ru-RU" sz="2700" dirty="0"/>
              <a:t> (6 таблиц, связи, ограничения) Создать программные объекты:</a:t>
            </a:r>
            <a:br>
              <a:rPr lang="ru-RU" sz="2700" dirty="0"/>
            </a:br>
            <a:r>
              <a:rPr lang="ru-RU" sz="2700" dirty="0"/>
              <a:t>Хранимые процедуры</a:t>
            </a:r>
            <a:br>
              <a:rPr lang="ru-RU" sz="2700" dirty="0"/>
            </a:br>
            <a:r>
              <a:rPr lang="ru-RU" sz="2700" dirty="0"/>
              <a:t>Триггеры</a:t>
            </a:r>
            <a:br>
              <a:rPr lang="ru-RU" sz="2700" dirty="0"/>
            </a:br>
            <a:r>
              <a:rPr lang="ru-RU" sz="2700" dirty="0"/>
              <a:t>Функции и представления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47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E2B3D-24B3-4536-921E-70537D73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79508"/>
            <a:ext cx="5411788" cy="5947795"/>
          </a:xfrm>
        </p:spPr>
        <p:txBody>
          <a:bodyPr>
            <a:normAutofit fontScale="90000"/>
          </a:bodyPr>
          <a:lstStyle/>
          <a:p>
            <a:r>
              <a:rPr lang="ru-RU" sz="2700" b="1" dirty="0" err="1"/>
              <a:t>труктура</a:t>
            </a:r>
            <a:r>
              <a:rPr lang="ru-RU" sz="2700" b="1" dirty="0"/>
              <a:t> базы данных</a:t>
            </a:r>
            <a:br>
              <a:rPr lang="ru-RU" sz="2700" b="1" dirty="0"/>
            </a:br>
            <a:r>
              <a:rPr lang="ru-RU" sz="2700" b="1" dirty="0"/>
              <a:t>6 основных таблиц: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clients</a:t>
            </a:r>
            <a:r>
              <a:rPr lang="en-US" sz="2700" dirty="0"/>
              <a:t> — </a:t>
            </a:r>
            <a:r>
              <a:rPr lang="ru-RU" sz="2700" dirty="0"/>
              <a:t>клиенты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drivers</a:t>
            </a:r>
            <a:r>
              <a:rPr lang="en-US" sz="2700" dirty="0"/>
              <a:t> — </a:t>
            </a:r>
            <a:r>
              <a:rPr lang="ru-RU" sz="2700" dirty="0"/>
              <a:t>водители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cars</a:t>
            </a:r>
            <a:r>
              <a:rPr lang="en-US" sz="2700" dirty="0"/>
              <a:t> — </a:t>
            </a:r>
            <a:r>
              <a:rPr lang="ru-RU" sz="2700" dirty="0"/>
              <a:t>автомобили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orders</a:t>
            </a:r>
            <a:r>
              <a:rPr lang="en-US" sz="2700" dirty="0"/>
              <a:t> — </a:t>
            </a:r>
            <a:r>
              <a:rPr lang="ru-RU" sz="2700" dirty="0"/>
              <a:t>заказы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payments</a:t>
            </a:r>
            <a:r>
              <a:rPr lang="en-US" sz="2700" dirty="0"/>
              <a:t> — </a:t>
            </a:r>
            <a:r>
              <a:rPr lang="ru-RU" sz="2700" dirty="0"/>
              <a:t>платежи</a:t>
            </a:r>
            <a:br>
              <a:rPr lang="ru-RU" sz="2700" dirty="0"/>
            </a:br>
            <a:r>
              <a:rPr lang="ru-RU" sz="2700" dirty="0"/>
              <a:t> </a:t>
            </a:r>
            <a:r>
              <a:rPr lang="en-US" sz="2700" b="1" dirty="0"/>
              <a:t>reviews</a:t>
            </a:r>
            <a:r>
              <a:rPr lang="en-US" sz="2700" dirty="0"/>
              <a:t> — </a:t>
            </a:r>
            <a:r>
              <a:rPr lang="ru-RU" sz="2700" dirty="0"/>
              <a:t>отзывы</a:t>
            </a:r>
            <a:br>
              <a:rPr lang="ru-RU" sz="2700" dirty="0"/>
            </a:br>
            <a:r>
              <a:rPr lang="ru-RU" sz="2700" b="1" dirty="0"/>
              <a:t>Связи:</a:t>
            </a:r>
            <a:br>
              <a:rPr lang="ru-RU" sz="2700" dirty="0"/>
            </a:br>
            <a:r>
              <a:rPr lang="ru-RU" sz="2700" dirty="0"/>
              <a:t>Один клиент → Много заказов</a:t>
            </a:r>
            <a:br>
              <a:rPr lang="ru-RU" sz="2700" dirty="0"/>
            </a:br>
            <a:r>
              <a:rPr lang="ru-RU" sz="2700" dirty="0"/>
              <a:t>Один водитель → Много заказов</a:t>
            </a:r>
            <a:br>
              <a:rPr lang="ru-RU" sz="2700" dirty="0"/>
            </a:br>
            <a:r>
              <a:rPr lang="ru-RU" sz="2700" dirty="0"/>
              <a:t>Один заказ → Много платежей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F9BD03-3EA7-4C2A-804E-2E4BE972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644" y="876649"/>
            <a:ext cx="5830356" cy="55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4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1DC6397-7188-43ED-AB3B-53B33B4D3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179671"/>
            <a:ext cx="6913752" cy="4431983"/>
          </a:xfrm>
          <a:prstGeom prst="rect">
            <a:avLst/>
          </a:prstGeom>
          <a:solidFill>
            <a:srgbClr val="2323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Программные объекты БД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Что реализовано в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MySQL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Хранимая процедура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8583F6"/>
                </a:solidFill>
                <a:effectLst/>
                <a:latin typeface="ui-monospace"/>
              </a:rPr>
              <a:t>create_order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Создание заказа с проверкой доступности водителя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Триггер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8583F6"/>
                </a:solidFill>
                <a:effectLst/>
                <a:latin typeface="ui-monospace"/>
              </a:rPr>
              <a:t>trg_after_review_insert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Автопересчет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рейтинга водителя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Представление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8583F6"/>
                </a:solidFill>
                <a:effectLst/>
                <a:latin typeface="ui-monospace"/>
              </a:rPr>
              <a:t>v_order_summary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Сводная аналитика по заказам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Функция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8583F6"/>
                </a:solidFill>
                <a:effectLst/>
                <a:latin typeface="ui-monospace"/>
              </a:rPr>
              <a:t>calculate_fare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Расчет стоимости поездки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Обработчик исключений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system-ui"/>
              </a:rPr>
              <a:t>Гарантия целостности данных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51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1FC33-C794-40D8-A59F-214D96D9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7898"/>
            <a:ext cx="8534400" cy="5306502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Ключевой функционал</a:t>
            </a:r>
            <a:br>
              <a:rPr lang="ru-RU" sz="2700" b="1" dirty="0"/>
            </a:br>
            <a:r>
              <a:rPr lang="ru-RU" sz="2700" b="1" dirty="0"/>
              <a:t>Возможности системы:</a:t>
            </a:r>
            <a:br>
              <a:rPr lang="ru-RU" sz="2700" dirty="0"/>
            </a:br>
            <a:r>
              <a:rPr lang="ru-RU" sz="2700" dirty="0"/>
              <a:t> Регистрация клиентов с проверкой уникальности</a:t>
            </a:r>
            <a:br>
              <a:rPr lang="ru-RU" sz="2700" dirty="0"/>
            </a:br>
            <a:r>
              <a:rPr lang="ru-RU" sz="2700" dirty="0"/>
              <a:t> Создание заказов через хранимую процедуру</a:t>
            </a:r>
            <a:br>
              <a:rPr lang="ru-RU" sz="2700" dirty="0"/>
            </a:br>
            <a:r>
              <a:rPr lang="ru-RU" sz="2700" dirty="0"/>
              <a:t> Автоматический расчет стоимости поездки</a:t>
            </a:r>
            <a:br>
              <a:rPr lang="ru-RU" sz="2700" dirty="0"/>
            </a:br>
            <a:r>
              <a:rPr lang="ru-RU" sz="2700" dirty="0"/>
              <a:t> Регистрация платежей с транзакцией</a:t>
            </a:r>
            <a:br>
              <a:rPr lang="ru-RU" sz="2700" dirty="0"/>
            </a:br>
            <a:r>
              <a:rPr lang="ru-RU" sz="2700" dirty="0"/>
              <a:t> Обновление рейтинга водителей (триггер)</a:t>
            </a:r>
            <a:br>
              <a:rPr lang="ru-RU" sz="2700" dirty="0"/>
            </a:br>
            <a:r>
              <a:rPr lang="ru-RU" sz="2700" dirty="0"/>
              <a:t> Аналитика: топ водителей, выручка, статистика</a:t>
            </a:r>
            <a:br>
              <a:rPr lang="ru-RU" sz="2700" dirty="0"/>
            </a:br>
            <a:r>
              <a:rPr lang="ru-RU" sz="2700" b="1" dirty="0"/>
              <a:t>Пример бизнес-логики:</a:t>
            </a:r>
            <a:br>
              <a:rPr lang="ru-RU" sz="2700" dirty="0"/>
            </a:br>
            <a:r>
              <a:rPr lang="ru-RU" sz="2700" dirty="0"/>
              <a:t>При создании заказа система проверяет:</a:t>
            </a:r>
            <a:br>
              <a:rPr lang="ru-RU" sz="2700" dirty="0"/>
            </a:br>
            <a:r>
              <a:rPr lang="ru-RU" sz="2700" dirty="0"/>
              <a:t>Существует ли водитель</a:t>
            </a:r>
            <a:br>
              <a:rPr lang="ru-RU" sz="2700" dirty="0"/>
            </a:br>
            <a:r>
              <a:rPr lang="ru-RU" sz="2700" dirty="0"/>
              <a:t>Доступен ли водитель (статус '</a:t>
            </a:r>
            <a:r>
              <a:rPr lang="ru-RU" sz="2700" dirty="0" err="1"/>
              <a:t>available</a:t>
            </a:r>
            <a:r>
              <a:rPr lang="ru-RU" sz="2700" dirty="0"/>
              <a:t>')</a:t>
            </a:r>
            <a:br>
              <a:rPr lang="ru-RU" sz="2700" dirty="0"/>
            </a:br>
            <a:r>
              <a:rPr lang="ru-RU" sz="2700" dirty="0"/>
              <a:t>Блокирует водителя на время поездки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264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188F8-8ED1-4EC9-8502-52C9B50E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60059"/>
            <a:ext cx="11295267" cy="6434355"/>
          </a:xfrm>
        </p:spPr>
        <p:txBody>
          <a:bodyPr>
            <a:normAutofit/>
          </a:bodyPr>
          <a:lstStyle/>
          <a:p>
            <a:r>
              <a:rPr lang="ru-RU" b="1" dirty="0" err="1"/>
              <a:t>ПРимеры</a:t>
            </a:r>
            <a:r>
              <a:rPr lang="ru-RU" b="1" dirty="0"/>
              <a:t> запросов</a:t>
            </a:r>
            <a:br>
              <a:rPr lang="ru-RU" b="1" dirty="0"/>
            </a:br>
            <a:r>
              <a:rPr lang="ru-RU" b="1" dirty="0"/>
              <a:t>Типовые операции:</a:t>
            </a:r>
            <a:br>
              <a:rPr lang="ru-RU" dirty="0"/>
            </a:br>
            <a:r>
              <a:rPr lang="ru-RU" dirty="0"/>
              <a:t> </a:t>
            </a:r>
            <a:r>
              <a:rPr lang="ru-RU" b="1" dirty="0"/>
              <a:t>Выручка за месяц:</a:t>
            </a:r>
            <a:br>
              <a:rPr lang="ru-RU" b="1" dirty="0"/>
            </a:br>
            <a:r>
              <a:rPr lang="en-US" sz="1800" i="1" dirty="0"/>
              <a:t>SELECT SUM(</a:t>
            </a:r>
            <a:r>
              <a:rPr lang="en-US" sz="1800" i="1" dirty="0" err="1"/>
              <a:t>total_cost</a:t>
            </a:r>
            <a:r>
              <a:rPr lang="en-US" sz="1800" i="1" dirty="0"/>
              <a:t>) </a:t>
            </a:r>
            <a:br>
              <a:rPr lang="en-US" sz="1800" i="1" dirty="0"/>
            </a:br>
            <a:r>
              <a:rPr lang="en-US" sz="1800" i="1" dirty="0"/>
              <a:t>FROM orders </a:t>
            </a:r>
            <a:br>
              <a:rPr lang="en-US" sz="1800" i="1" dirty="0"/>
            </a:br>
            <a:r>
              <a:rPr lang="en-US" sz="1800" i="1" dirty="0"/>
              <a:t>WHERE status='completed' </a:t>
            </a:r>
            <a:br>
              <a:rPr lang="en-US" sz="1800" i="1" dirty="0"/>
            </a:br>
            <a:r>
              <a:rPr lang="en-US" sz="1800" i="1" dirty="0"/>
              <a:t>AND MONTH(</a:t>
            </a:r>
            <a:r>
              <a:rPr lang="en-US" sz="1800" i="1" dirty="0" err="1"/>
              <a:t>order_date</a:t>
            </a:r>
            <a:r>
              <a:rPr lang="en-US" sz="1800" i="1" dirty="0"/>
              <a:t>) = MONTH(CURDATE())</a:t>
            </a:r>
            <a:br>
              <a:rPr lang="ru-RU" sz="1800" i="1" dirty="0"/>
            </a:br>
            <a:r>
              <a:rPr lang="ru-RU" b="1" dirty="0"/>
              <a:t>Топ водителей:</a:t>
            </a:r>
            <a:br>
              <a:rPr lang="ru-RU" b="1" dirty="0"/>
            </a:br>
            <a:r>
              <a:rPr lang="en-US" sz="1800" dirty="0"/>
              <a:t>SELECT </a:t>
            </a:r>
            <a:r>
              <a:rPr lang="en-US" sz="1800" dirty="0" err="1"/>
              <a:t>full_name</a:t>
            </a:r>
            <a:r>
              <a:rPr lang="en-US" sz="1800" dirty="0"/>
              <a:t>, rating </a:t>
            </a:r>
            <a:br>
              <a:rPr lang="en-US" sz="1800" dirty="0"/>
            </a:br>
            <a:r>
              <a:rPr lang="en-US" sz="1800" dirty="0"/>
              <a:t>FROM drivers </a:t>
            </a:r>
            <a:br>
              <a:rPr lang="en-US" sz="1800" dirty="0"/>
            </a:br>
            <a:r>
              <a:rPr lang="en-US" sz="1800" dirty="0"/>
              <a:t>ORDER BY rating DESC LIMIT 5</a:t>
            </a:r>
            <a:br>
              <a:rPr lang="ru-RU" sz="1800" dirty="0"/>
            </a:br>
            <a:r>
              <a:rPr lang="ru-RU" b="1" dirty="0"/>
              <a:t>Заказы клиента:</a:t>
            </a:r>
            <a:br>
              <a:rPr lang="ru-RU" b="1" dirty="0"/>
            </a:br>
            <a:r>
              <a:rPr lang="en-US" sz="2000" dirty="0"/>
              <a:t>SELECT * FROM </a:t>
            </a:r>
            <a:r>
              <a:rPr lang="en-US" sz="2000" dirty="0" err="1"/>
              <a:t>v_order_summary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 err="1"/>
              <a:t>client_id</a:t>
            </a:r>
            <a:r>
              <a:rPr lang="en-US" sz="2000" dirty="0"/>
              <a:t> = 1</a:t>
            </a:r>
            <a:br>
              <a:rPr lang="en-US" dirty="0"/>
            </a:br>
            <a:br>
              <a:rPr lang="en-US" sz="1800" dirty="0"/>
            </a:br>
            <a:br>
              <a:rPr lang="ru-RU" sz="18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8924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8904-AC05-464D-995B-C701699C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46620"/>
            <a:ext cx="8534400" cy="5247779"/>
          </a:xfrm>
        </p:spPr>
        <p:txBody>
          <a:bodyPr>
            <a:normAutofit/>
          </a:bodyPr>
          <a:lstStyle/>
          <a:p>
            <a:r>
              <a:rPr lang="ru-RU" sz="2400" b="1" dirty="0"/>
              <a:t>Результаты работы</a:t>
            </a:r>
            <a:br>
              <a:rPr lang="ru-RU" sz="2400" b="1" dirty="0"/>
            </a:br>
            <a:r>
              <a:rPr lang="ru-RU" sz="2400" b="1" dirty="0"/>
              <a:t>Что получилось: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База данных:</a:t>
            </a:r>
            <a:br>
              <a:rPr lang="ru-RU" sz="2400" dirty="0"/>
            </a:br>
            <a:r>
              <a:rPr lang="ru-RU" sz="2400" dirty="0"/>
              <a:t>6 таблиц с внешними ключами</a:t>
            </a:r>
            <a:br>
              <a:rPr lang="ru-RU" sz="2400" dirty="0"/>
            </a:br>
            <a:r>
              <a:rPr lang="ru-RU" sz="2400" dirty="0"/>
              <a:t>3 пользователя с разграничением прав</a:t>
            </a:r>
            <a:br>
              <a:rPr lang="ru-RU" sz="2400" dirty="0"/>
            </a:br>
            <a:r>
              <a:rPr lang="ru-RU" sz="2400" dirty="0"/>
              <a:t>Приведена к 3НФ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Программные объекты:</a:t>
            </a:r>
            <a:br>
              <a:rPr lang="ru-RU" sz="2400" dirty="0"/>
            </a:br>
            <a:r>
              <a:rPr lang="ru-RU" sz="2400" dirty="0"/>
              <a:t>1 хранимая процедура (с обработчиком ошибок)</a:t>
            </a:r>
            <a:br>
              <a:rPr lang="ru-RU" sz="2400" dirty="0"/>
            </a:br>
            <a:r>
              <a:rPr lang="ru-RU" sz="2400" dirty="0"/>
              <a:t>1 триггер (</a:t>
            </a:r>
            <a:r>
              <a:rPr lang="ru-RU" sz="2400" dirty="0" err="1"/>
              <a:t>автообновление</a:t>
            </a:r>
            <a:r>
              <a:rPr lang="ru-RU" sz="2400" dirty="0"/>
              <a:t> рейтинга)</a:t>
            </a:r>
            <a:br>
              <a:rPr lang="ru-RU" sz="2400" dirty="0"/>
            </a:br>
            <a:r>
              <a:rPr lang="ru-RU" sz="2400" dirty="0"/>
              <a:t>1 функция (расчет тарифа)</a:t>
            </a:r>
            <a:br>
              <a:rPr lang="ru-RU" sz="2400" dirty="0"/>
            </a:br>
            <a:r>
              <a:rPr lang="ru-RU" sz="2400" dirty="0"/>
              <a:t>1 представление (аналитика)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77236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FEC6-424D-427F-A3E8-BDF9C1DE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54342"/>
            <a:ext cx="8534400" cy="5340058"/>
          </a:xfrm>
        </p:spPr>
        <p:txBody>
          <a:bodyPr>
            <a:noAutofit/>
          </a:bodyPr>
          <a:lstStyle/>
          <a:p>
            <a:r>
              <a:rPr lang="ru-RU" sz="2400" b="1" dirty="0" err="1"/>
              <a:t>естирование</a:t>
            </a:r>
            <a:br>
              <a:rPr lang="ru-RU" sz="2400" b="1" dirty="0"/>
            </a:br>
            <a:r>
              <a:rPr lang="ru-RU" sz="2400" b="1" dirty="0"/>
              <a:t>Этапы проверки:</a:t>
            </a:r>
            <a:br>
              <a:rPr lang="ru-RU" sz="2400" dirty="0"/>
            </a:br>
            <a:r>
              <a:rPr lang="ru-RU" sz="2400" b="1" dirty="0"/>
              <a:t>Структурное тестирование БД</a:t>
            </a:r>
            <a:br>
              <a:rPr lang="ru-RU" sz="2400" dirty="0"/>
            </a:br>
            <a:r>
              <a:rPr lang="ru-RU" sz="2400" dirty="0"/>
              <a:t>✓ Проверка PRIMARY KEY и AUTO_INCREMENT</a:t>
            </a:r>
            <a:br>
              <a:rPr lang="ru-RU" sz="2400" dirty="0"/>
            </a:br>
            <a:r>
              <a:rPr lang="ru-RU" sz="2400" dirty="0"/>
              <a:t>✓ UNIQUE ограничения (телефоны, номера прав)</a:t>
            </a:r>
            <a:br>
              <a:rPr lang="ru-RU" sz="2400" dirty="0"/>
            </a:br>
            <a:r>
              <a:rPr lang="ru-RU" sz="2400" dirty="0"/>
              <a:t>✓ FOREIGN KEY (ссылочная целостность)</a:t>
            </a:r>
            <a:br>
              <a:rPr lang="ru-RU" sz="2400" dirty="0"/>
            </a:br>
            <a:r>
              <a:rPr lang="ru-RU" sz="2400" dirty="0"/>
              <a:t>✓ CHECK ограничения (год авто, рейтинг 1-5) </a:t>
            </a:r>
            <a:r>
              <a:rPr lang="ru-RU" sz="2400" b="1" dirty="0"/>
              <a:t>Функциональное тестирование</a:t>
            </a:r>
            <a:br>
              <a:rPr lang="ru-RU" sz="2400" dirty="0"/>
            </a:br>
            <a:r>
              <a:rPr lang="ru-RU" sz="2400" dirty="0"/>
              <a:t>✓ Хранимая процедура проверяет статус водителя</a:t>
            </a:r>
            <a:br>
              <a:rPr lang="ru-RU" sz="2400" dirty="0"/>
            </a:br>
            <a:r>
              <a:rPr lang="ru-RU" sz="2400" dirty="0"/>
              <a:t>✓ Триггер обновляет рейтинг после отзыва</a:t>
            </a:r>
            <a:br>
              <a:rPr lang="ru-RU" sz="2400" dirty="0"/>
            </a:br>
            <a:r>
              <a:rPr lang="ru-RU" sz="2400" dirty="0"/>
              <a:t>✓ Транзакции обеспечивают атомарность</a:t>
            </a:r>
            <a:br>
              <a:rPr lang="ru-RU" sz="2400" dirty="0"/>
            </a:b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7071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EBDC3-7B77-48B6-8528-6FD3B02B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85894"/>
            <a:ext cx="8534400" cy="5608505"/>
          </a:xfrm>
        </p:spPr>
        <p:txBody>
          <a:bodyPr>
            <a:normAutofit/>
          </a:bodyPr>
          <a:lstStyle/>
          <a:p>
            <a:r>
              <a:rPr lang="ru-RU" sz="2400" b="1" dirty="0"/>
              <a:t>Перспективы развития</a:t>
            </a:r>
            <a:br>
              <a:rPr lang="ru-RU" sz="2400" b="1" dirty="0"/>
            </a:br>
            <a:r>
              <a:rPr lang="ru-RU" sz="2400" b="1" dirty="0"/>
              <a:t>Что можно добавить: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Веб-интерфейс</a:t>
            </a:r>
            <a:r>
              <a:rPr lang="ru-RU" sz="2400" dirty="0"/>
              <a:t> на </a:t>
            </a:r>
            <a:r>
              <a:rPr lang="ru-RU" sz="2400" dirty="0" err="1"/>
              <a:t>Flask</a:t>
            </a:r>
            <a:r>
              <a:rPr lang="ru-RU" sz="2400" dirty="0"/>
              <a:t>/</a:t>
            </a:r>
            <a:r>
              <a:rPr lang="ru-RU" sz="2400" dirty="0" err="1"/>
              <a:t>Django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Мобильное приложение</a:t>
            </a:r>
            <a:r>
              <a:rPr lang="ru-RU" sz="2400" dirty="0"/>
              <a:t> для водителей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Интеграция с картами</a:t>
            </a:r>
            <a:r>
              <a:rPr lang="ru-RU" sz="2400" dirty="0"/>
              <a:t> (</a:t>
            </a:r>
            <a:r>
              <a:rPr lang="ru-RU" sz="2400" dirty="0" err="1"/>
              <a:t>Яндекс.Карты</a:t>
            </a:r>
            <a:r>
              <a:rPr lang="ru-RU" sz="2400" dirty="0"/>
              <a:t>, </a:t>
            </a:r>
            <a:r>
              <a:rPr lang="ru-RU" sz="2400" dirty="0" err="1"/>
              <a:t>Google</a:t>
            </a:r>
            <a:r>
              <a:rPr lang="ru-RU" sz="2400" dirty="0"/>
              <a:t> </a:t>
            </a:r>
            <a:r>
              <a:rPr lang="ru-RU" sz="2400" dirty="0" err="1"/>
              <a:t>Maps</a:t>
            </a:r>
            <a:r>
              <a:rPr lang="ru-RU" sz="2400" dirty="0"/>
              <a:t>)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SMS-уведомления</a:t>
            </a:r>
            <a:r>
              <a:rPr lang="ru-RU" sz="2400" dirty="0"/>
              <a:t> клиентам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Система аналитики</a:t>
            </a:r>
            <a:r>
              <a:rPr lang="ru-RU" sz="2400" dirty="0"/>
              <a:t> и прогнозирования спроса</a:t>
            </a:r>
            <a:br>
              <a:rPr lang="ru-RU" sz="2400" dirty="0"/>
            </a:br>
            <a:r>
              <a:rPr lang="ru-RU" sz="2400" dirty="0"/>
              <a:t> </a:t>
            </a:r>
            <a:r>
              <a:rPr lang="ru-RU" sz="2400" b="1" dirty="0"/>
              <a:t>Двухфакторная аутентификация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0513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4CACC-10E8-44F4-B801-B039EC88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954636"/>
            <a:ext cx="9407744" cy="729841"/>
          </a:xfrm>
        </p:spPr>
        <p:txBody>
          <a:bodyPr/>
          <a:lstStyle/>
          <a:p>
            <a:r>
              <a:rPr lang="en-US" dirty="0"/>
              <a:t>https://github.com/axrwj/kursa4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41352F-6A4C-4EC5-972D-E0421C22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1268835"/>
          </a:xfrm>
        </p:spPr>
        <p:txBody>
          <a:bodyPr/>
          <a:lstStyle/>
          <a:p>
            <a:r>
              <a:rPr lang="ru-RU" dirty="0"/>
              <a:t>Ссылка на репозиторий</a:t>
            </a:r>
          </a:p>
        </p:txBody>
      </p:sp>
      <p:pic>
        <p:nvPicPr>
          <p:cNvPr id="2050" name="Picture 2" descr="http://qrcoder.ru/code/?https%3A%2F%2Fgithub.com%2Faxrwj%2Fkursa4&amp;4&amp;0">
            <a:extLst>
              <a:ext uri="{FF2B5EF4-FFF2-40B4-BE49-F238E27FC236}">
                <a16:creationId xmlns:a16="http://schemas.microsoft.com/office/drawing/2014/main" id="{C5E0C6FB-DD00-4507-BF00-DDA2FEB60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95" y="2684477"/>
            <a:ext cx="3987742" cy="39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89056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</TotalTime>
  <Words>58</Words>
  <Application>Microsoft Office PowerPoint</Application>
  <PresentationFormat>Широкоэкранный</PresentationFormat>
  <Paragraphs>20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system-ui</vt:lpstr>
      <vt:lpstr>ui-monospace</vt:lpstr>
      <vt:lpstr>Wingdings 3</vt:lpstr>
      <vt:lpstr>Сектор</vt:lpstr>
      <vt:lpstr>Частное учреждение профессионального образования «Высшая школа предпринимательства» (ЧУПО «ВШП») КУРСОВОЙ ПРОЕКТ </vt:lpstr>
      <vt:lpstr>Aктуальность темы Почему это важно? ✓ Службы такси обрабатывают большие объемы данных ежедневно ✓ Необходимость автоматизации учета клиентов, заказов и платежей ✓ Снижение ошибок и повышение скорости обработки заказов ✓ MySQL — надежная и бесплатная СУБД для малого бизнеса Цель проекта: Спроектировать и реализовать систему учета клиентов службы такси на базе MySQL</vt:lpstr>
      <vt:lpstr>Задачи проекта Что нужно было сделать: Проанализировать предметную область Спроектировать ER-модель базы данных Реализовать БД в MySQL (6 таблиц, связи, ограничения) Создать программные объекты: Хранимые процедуры Триггеры Функции и представления </vt:lpstr>
      <vt:lpstr>труктура базы данных 6 основных таблиц:  clients — клиенты  drivers — водители  cars — автомобили  orders — заказы  payments — платежи  reviews — отзывы Связи: Один клиент → Много заказов Один водитель → Много заказов Один заказ → Много платежей </vt:lpstr>
      <vt:lpstr>Программные объекты БД Что реализовано в MySQL:  Хранимая процедура create_order  Создание заказа с проверкой доступности водителя  Триггер trg_after_review_insert  Автопересчет рейтинга водителя  Представление v_order_summary  Сводная аналитика по заказам  Функция calculate_fare  Расчет стоимости поездки  Обработчик исключений Гарантия целостности данных</vt:lpstr>
      <vt:lpstr>Ключевой функционал Возможности системы:  Регистрация клиентов с проверкой уникальности  Создание заказов через хранимую процедуру  Автоматический расчет стоимости поездки  Регистрация платежей с транзакцией  Обновление рейтинга водителей (триггер)  Аналитика: топ водителей, выручка, статистика Пример бизнес-логики: При создании заказа система проверяет: Существует ли водитель Доступен ли водитель (статус 'available') Блокирует водителя на время поездки </vt:lpstr>
      <vt:lpstr>ПРимеры запросов Типовые операции:  Выручка за месяц: SELECT SUM(total_cost)  FROM orders  WHERE status='completed'  AND MONTH(order_date) = MONTH(CURDATE()) Топ водителей: SELECT full_name, rating  FROM drivers  ORDER BY rating DESC LIMIT 5 Заказы клиента: SELECT * FROM v_order_summary  WHERE client_id = 1   </vt:lpstr>
      <vt:lpstr>Результаты работы Что получилось:  База данных: 6 таблиц с внешними ключами 3 пользователя с разграничением прав Приведена к 3НФ  Программные объекты: 1 хранимая процедура (с обработчиком ошибок) 1 триггер (автообновление рейтинга) 1 функция (расчет тарифа) 1 представление (аналитика) </vt:lpstr>
      <vt:lpstr>естирование Этапы проверки: Структурное тестирование БД ✓ Проверка PRIMARY KEY и AUTO_INCREMENT ✓ UNIQUE ограничения (телефоны, номера прав) ✓ FOREIGN KEY (ссылочная целостность) ✓ CHECK ограничения (год авто, рейтинг 1-5) Функциональное тестирование ✓ Хранимая процедура проверяет статус водителя ✓ Триггер обновляет рейтинг после отзыва ✓ Транзакции обеспечивают атомарность  </vt:lpstr>
      <vt:lpstr>Перспективы развития Что можно добавить:  Веб-интерфейс на Flask/Django  Мобильное приложение для водителей  Интеграция с картами (Яндекс.Карты, Google Maps)  SMS-уведомления клиентам  Система аналитики и прогнозирования спроса  Двухфакторная аутентификация </vt:lpstr>
      <vt:lpstr>https://github.com/axrwj/kursa4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Частное учреждение профессионального образования «Высшая школа предпринимательства» (ЧУПО «ВШП») КУРСОВОЙ ПРОЕКТ</dc:title>
  <dc:creator>Марк Комаров</dc:creator>
  <cp:lastModifiedBy>Марк Комаров</cp:lastModifiedBy>
  <cp:revision>2</cp:revision>
  <dcterms:created xsi:type="dcterms:W3CDTF">2026-06-25T09:58:54Z</dcterms:created>
  <dcterms:modified xsi:type="dcterms:W3CDTF">2026-06-25T10:17:05Z</dcterms:modified>
</cp:coreProperties>
</file>